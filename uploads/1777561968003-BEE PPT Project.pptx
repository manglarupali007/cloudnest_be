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64649-40EC-4CF2-873C-B3865BD9AB99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E4419-76F8-4681-A3F4-10DF393AF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626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E4419-76F8-4681-A3F4-10DF393AFF1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086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83684"/>
            <a:ext cx="9144000" cy="274320"/>
          </a:xfrm>
          <a:custGeom>
            <a:avLst/>
            <a:gdLst/>
            <a:ahLst/>
            <a:cxnLst/>
            <a:rect l="l" t="t" r="r" b="b"/>
            <a:pathLst>
              <a:path w="9144000" h="274320">
                <a:moveTo>
                  <a:pt x="0" y="274316"/>
                </a:moveTo>
                <a:lnTo>
                  <a:pt x="9144000" y="274316"/>
                </a:lnTo>
                <a:lnTo>
                  <a:pt x="9144000" y="0"/>
                </a:lnTo>
                <a:lnTo>
                  <a:pt x="0" y="0"/>
                </a:lnTo>
                <a:lnTo>
                  <a:pt x="0" y="2743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53200" y="228600"/>
            <a:ext cx="2057400" cy="634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800" y="0"/>
            <a:ext cx="2997200" cy="838200"/>
          </a:xfrm>
          <a:custGeom>
            <a:avLst/>
            <a:gdLst/>
            <a:ahLst/>
            <a:cxnLst/>
            <a:rect l="l" t="t" r="r" b="b"/>
            <a:pathLst>
              <a:path w="2997200" h="838200">
                <a:moveTo>
                  <a:pt x="2997200" y="0"/>
                </a:moveTo>
                <a:lnTo>
                  <a:pt x="0" y="0"/>
                </a:lnTo>
                <a:lnTo>
                  <a:pt x="0" y="838200"/>
                </a:lnTo>
                <a:lnTo>
                  <a:pt x="2997200" y="838200"/>
                </a:lnTo>
                <a:lnTo>
                  <a:pt x="29972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400" cy="63499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527800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4706" y="-18544"/>
            <a:ext cx="3837304" cy="713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3700" y="1806187"/>
            <a:ext cx="7858125" cy="2087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0230" y="730303"/>
            <a:ext cx="45294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Calibri"/>
                <a:cs typeface="Calibri"/>
              </a:rPr>
              <a:t>Back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End</a:t>
            </a:r>
            <a:r>
              <a:rPr sz="4000" spc="-5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Engineering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3789" y="1787380"/>
            <a:ext cx="80625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6530" algn="l"/>
              </a:tabLst>
            </a:pPr>
            <a:r>
              <a:rPr sz="4800" b="1" spc="-10" dirty="0">
                <a:latin typeface="Calibri"/>
                <a:cs typeface="Calibri"/>
              </a:rPr>
              <a:t>University</a:t>
            </a:r>
            <a:r>
              <a:rPr sz="4800" b="1" dirty="0">
                <a:latin typeface="Calibri"/>
                <a:cs typeface="Calibri"/>
              </a:rPr>
              <a:t>	Management</a:t>
            </a:r>
            <a:r>
              <a:rPr sz="4800" b="1" spc="-204" dirty="0">
                <a:latin typeface="Calibri"/>
                <a:cs typeface="Calibri"/>
              </a:rPr>
              <a:t> </a:t>
            </a:r>
            <a:r>
              <a:rPr sz="4800" b="1" spc="-10" dirty="0">
                <a:latin typeface="Calibri"/>
                <a:cs typeface="Calibri"/>
              </a:rPr>
              <a:t>System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069" y="5780488"/>
            <a:ext cx="8717280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5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Chitkara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University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Institute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0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30" dirty="0">
                <a:solidFill>
                  <a:srgbClr val="FF0000"/>
                </a:solidFill>
                <a:latin typeface="Times New Roman"/>
                <a:cs typeface="Times New Roman"/>
              </a:rPr>
              <a:t>Technology,</a:t>
            </a:r>
            <a:r>
              <a:rPr sz="2000" b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Chitkara</a:t>
            </a:r>
            <a:r>
              <a:rPr sz="20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University,</a:t>
            </a:r>
            <a:endParaRPr sz="2000">
              <a:latin typeface="Times New Roman"/>
              <a:cs typeface="Times New Roman"/>
            </a:endParaRPr>
          </a:p>
          <a:p>
            <a:pPr marL="431165" algn="ctr">
              <a:lnSpc>
                <a:spcPts val="2350"/>
              </a:lnSpc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Punjab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1034" y="3037860"/>
            <a:ext cx="5970270" cy="1905000"/>
          </a:xfrm>
          <a:custGeom>
            <a:avLst/>
            <a:gdLst/>
            <a:ahLst/>
            <a:cxnLst/>
            <a:rect l="l" t="t" r="r" b="b"/>
            <a:pathLst>
              <a:path w="5970270" h="1905000">
                <a:moveTo>
                  <a:pt x="5970045" y="0"/>
                </a:moveTo>
                <a:lnTo>
                  <a:pt x="0" y="0"/>
                </a:lnTo>
                <a:lnTo>
                  <a:pt x="0" y="1904592"/>
                </a:lnTo>
                <a:lnTo>
                  <a:pt x="5970045" y="1904592"/>
                </a:lnTo>
                <a:lnTo>
                  <a:pt x="5970045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850582" y="3041875"/>
            <a:ext cx="139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spc="-55" dirty="0">
                <a:solidFill>
                  <a:srgbClr val="262626"/>
                </a:solidFill>
                <a:latin typeface="Arial MT"/>
                <a:cs typeface="Arial MT"/>
              </a:rPr>
              <a:t>Team</a:t>
            </a:r>
            <a:r>
              <a:rPr lang="en-IN" sz="1800" spc="-7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lang="en-IN" sz="1800" spc="-10" dirty="0">
                <a:solidFill>
                  <a:srgbClr val="262626"/>
                </a:solidFill>
                <a:latin typeface="Arial MT"/>
                <a:cs typeface="Arial MT"/>
              </a:rPr>
              <a:t>Details</a:t>
            </a:r>
            <a:r>
              <a:rPr sz="1800" spc="-10" dirty="0">
                <a:solidFill>
                  <a:srgbClr val="262626"/>
                </a:solidFill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615552"/>
              </p:ext>
            </p:extLst>
          </p:nvPr>
        </p:nvGraphicFramePr>
        <p:xfrm>
          <a:off x="1831532" y="3342930"/>
          <a:ext cx="4276725" cy="10541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2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716">
                <a:tc>
                  <a:txBody>
                    <a:bodyPr/>
                    <a:lstStyle/>
                    <a:p>
                      <a:pPr marL="31750">
                        <a:lnSpc>
                          <a:spcPts val="2035"/>
                        </a:lnSpc>
                        <a:tabLst>
                          <a:tab pos="487680" algn="l"/>
                          <a:tab pos="2327275" algn="l"/>
                        </a:tabLst>
                      </a:pPr>
                      <a:r>
                        <a:rPr lang="en-IN" sz="1800" spc="-25" dirty="0">
                          <a:solidFill>
                            <a:srgbClr val="262626"/>
                          </a:solidFill>
                        </a:rPr>
                        <a:t>1.Somya Sharma:2410990718</a:t>
                      </a:r>
                      <a:endParaRPr sz="1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35"/>
                        </a:lnSpc>
                      </a:pPr>
                      <a:endParaRPr sz="1800" dirty="0">
                        <a:latin typeface="+mj-l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03">
                <a:tc>
                  <a:txBody>
                    <a:bodyPr/>
                    <a:lstStyle/>
                    <a:p>
                      <a:pPr marL="31750">
                        <a:lnSpc>
                          <a:spcPts val="2125"/>
                        </a:lnSpc>
                        <a:tabLst>
                          <a:tab pos="487680" algn="l"/>
                          <a:tab pos="2267585" algn="l"/>
                        </a:tabLst>
                      </a:pPr>
                      <a:r>
                        <a:rPr lang="en-IN" sz="1800" spc="-25" dirty="0">
                          <a:solidFill>
                            <a:srgbClr val="262626"/>
                          </a:solidFill>
                        </a:rPr>
                        <a:t>2.Anshul Makhija:2410990930</a:t>
                      </a:r>
                      <a:endParaRPr lang="en-IN" sz="1800" spc="-80" dirty="0">
                        <a:solidFill>
                          <a:srgbClr val="262626"/>
                        </a:solidFill>
                      </a:endParaRPr>
                    </a:p>
                    <a:p>
                      <a:pPr marL="31750">
                        <a:lnSpc>
                          <a:spcPts val="2125"/>
                        </a:lnSpc>
                        <a:tabLst>
                          <a:tab pos="487680" algn="l"/>
                          <a:tab pos="2267585" algn="l"/>
                        </a:tabLst>
                      </a:pPr>
                      <a:r>
                        <a:rPr lang="en-IN" sz="1800" spc="-80" dirty="0">
                          <a:solidFill>
                            <a:srgbClr val="262626"/>
                          </a:solidFill>
                        </a:rPr>
                        <a:t>3.Piyush: 24109990654</a:t>
                      </a:r>
                      <a:r>
                        <a:rPr sz="1800" dirty="0">
                          <a:solidFill>
                            <a:srgbClr val="262626"/>
                          </a:solidFill>
                        </a:rPr>
                        <a:t>	</a:t>
                      </a:r>
                      <a:endParaRPr sz="1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2125"/>
                        </a:lnSpc>
                      </a:pPr>
                      <a:endParaRPr sz="1800" dirty="0">
                        <a:latin typeface="+mj-l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51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  <a:tabLst>
                          <a:tab pos="487680" algn="l"/>
                          <a:tab pos="2205990" algn="l"/>
                        </a:tabLst>
                      </a:pPr>
                      <a:r>
                        <a:rPr sz="1800" dirty="0">
                          <a:solidFill>
                            <a:srgbClr val="262626"/>
                          </a:solidFill>
                        </a:rPr>
                        <a:t>	</a:t>
                      </a:r>
                      <a:endParaRPr sz="18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ts val="2055"/>
                        </a:lnSpc>
                      </a:pPr>
                      <a:endParaRPr sz="1800" dirty="0">
                        <a:latin typeface="+mj-l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074" rIns="0" bIns="0" rtlCol="0">
            <a:spAutoFit/>
          </a:bodyPr>
          <a:lstStyle/>
          <a:p>
            <a:pPr marL="815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9619" y="1112363"/>
            <a:ext cx="41738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University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Management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619" y="2332009"/>
            <a:ext cx="8371205" cy="24511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44500" marR="5080" indent="-431800">
              <a:lnSpc>
                <a:spcPts val="2300"/>
              </a:lnSpc>
              <a:spcBef>
                <a:spcPts val="26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(UMS)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web-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university.It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helps </a:t>
            </a:r>
            <a:r>
              <a:rPr sz="2000" dirty="0">
                <a:latin typeface="Times New Roman"/>
                <a:cs typeface="Times New Roman"/>
              </a:rPr>
              <a:t>automate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processes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faculty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course </a:t>
            </a:r>
            <a:r>
              <a:rPr sz="2000" dirty="0">
                <a:latin typeface="Times New Roman"/>
                <a:cs typeface="Times New Roman"/>
              </a:rPr>
              <a:t>management,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attendance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tracking,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  <a:p>
            <a:pPr marL="444500" marR="477520" indent="-431800">
              <a:lnSpc>
                <a:spcPts val="2300"/>
              </a:lnSpc>
              <a:spcBef>
                <a:spcPts val="6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centralized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administrators,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faculty </a:t>
            </a:r>
            <a:r>
              <a:rPr sz="2000" dirty="0">
                <a:latin typeface="Times New Roman"/>
                <a:cs typeface="Times New Roman"/>
              </a:rPr>
              <a:t>members,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10" dirty="0">
                <a:latin typeface="Times New Roman"/>
                <a:cs typeface="Times New Roman"/>
              </a:rPr>
              <a:t> efficiently.By </a:t>
            </a:r>
            <a:r>
              <a:rPr sz="2000" dirty="0">
                <a:latin typeface="Times New Roman"/>
                <a:cs typeface="Times New Roman"/>
              </a:rPr>
              <a:t>digitizing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operations,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improves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accuracy, </a:t>
            </a:r>
            <a:r>
              <a:rPr sz="2000" dirty="0">
                <a:latin typeface="Times New Roman"/>
                <a:cs typeface="Times New Roman"/>
              </a:rPr>
              <a:t>communication,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overall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efficiency.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2200" y="6612825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9730">
              <a:lnSpc>
                <a:spcPct val="100000"/>
              </a:lnSpc>
              <a:spcBef>
                <a:spcPts val="95"/>
              </a:spcBef>
            </a:pPr>
            <a:r>
              <a:rPr sz="2950" spc="-10" dirty="0"/>
              <a:t>Problem</a:t>
            </a:r>
            <a:r>
              <a:rPr sz="2950" spc="-120" dirty="0"/>
              <a:t> </a:t>
            </a:r>
            <a:r>
              <a:rPr sz="2950" spc="-10" dirty="0"/>
              <a:t>Statement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152791" y="853297"/>
            <a:ext cx="8742680" cy="38461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44500" marR="230504" indent="-431800">
              <a:lnSpc>
                <a:spcPts val="2280"/>
              </a:lnSpc>
              <a:spcBef>
                <a:spcPts val="275"/>
              </a:spcBef>
              <a:buClr>
                <a:srgbClr val="888888"/>
              </a:buClr>
              <a:buFont typeface="Arial MT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faculty,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manually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time-</a:t>
            </a:r>
            <a:r>
              <a:rPr sz="2000" dirty="0">
                <a:latin typeface="Times New Roman"/>
                <a:cs typeface="Times New Roman"/>
              </a:rPr>
              <a:t>consuming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prone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errors.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000" dirty="0">
                <a:latin typeface="Times New Roman"/>
                <a:cs typeface="Times New Roman"/>
              </a:rPr>
              <a:t>Universities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difficulties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efficiently.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4500" marR="5080" indent="-431800">
              <a:lnSpc>
                <a:spcPts val="2280"/>
              </a:lnSpc>
              <a:buClr>
                <a:srgbClr val="888888"/>
              </a:buClr>
              <a:buFont typeface="Arial MT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Tracking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attendance,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grades,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enrollment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becomes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complicated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centralized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administration,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faculty,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inefficient.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4500" marR="481965" indent="-431800">
              <a:lnSpc>
                <a:spcPts val="2280"/>
              </a:lnSpc>
              <a:buClr>
                <a:srgbClr val="888888"/>
              </a:buClr>
              <a:buFont typeface="Arial MT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Therefore,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platform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simplifies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automates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processes.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5780">
              <a:lnSpc>
                <a:spcPct val="100000"/>
              </a:lnSpc>
              <a:spcBef>
                <a:spcPts val="95"/>
              </a:spcBef>
            </a:pPr>
            <a:r>
              <a:rPr sz="2950" dirty="0"/>
              <a:t>Project</a:t>
            </a:r>
            <a:r>
              <a:rPr sz="2950" spc="-170" dirty="0"/>
              <a:t> </a:t>
            </a:r>
            <a:r>
              <a:rPr sz="2950" spc="-10" dirty="0"/>
              <a:t>Objective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231073" y="1228322"/>
            <a:ext cx="7781925" cy="31857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44500" marR="5080" indent="-431800">
              <a:lnSpc>
                <a:spcPts val="2280"/>
              </a:lnSpc>
              <a:spcBef>
                <a:spcPts val="275"/>
              </a:spcBef>
              <a:buChar char="•"/>
              <a:tabLst>
                <a:tab pos="444500" algn="l"/>
                <a:tab pos="502920" algn="l"/>
              </a:tabLst>
            </a:pPr>
            <a:r>
              <a:rPr sz="2000" dirty="0">
                <a:solidFill>
                  <a:srgbClr val="888888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objective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digitize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automate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10" dirty="0">
                <a:latin typeface="Times New Roman"/>
                <a:cs typeface="Times New Roman"/>
              </a:rPr>
              <a:t> operations.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4500" marR="143510" indent="-431800">
              <a:lnSpc>
                <a:spcPts val="2280"/>
              </a:lnSpc>
              <a:buClr>
                <a:srgbClr val="888888"/>
              </a:buClr>
              <a:buFont typeface="Arial MT"/>
              <a:buChar char="•"/>
              <a:tabLst>
                <a:tab pos="4445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administrators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faculty,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courses,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efficiently.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r>
              <a:rPr sz="2000" dirty="0">
                <a:latin typeface="Times New Roman"/>
                <a:cs typeface="Times New Roman"/>
              </a:rPr>
              <a:t>Faculty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members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attendance,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grades.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4500" marR="325755" indent="-431800">
              <a:lnSpc>
                <a:spcPts val="2280"/>
              </a:lnSpc>
              <a:buChar char="•"/>
              <a:tabLst>
                <a:tab pos="444500" algn="l"/>
                <a:tab pos="507365" algn="l"/>
              </a:tabLst>
            </a:pPr>
            <a:r>
              <a:rPr sz="2000" dirty="0">
                <a:solidFill>
                  <a:srgbClr val="888888"/>
                </a:solidFill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Students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profiles,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academic </a:t>
            </a:r>
            <a:r>
              <a:rPr sz="2000" dirty="0">
                <a:latin typeface="Times New Roman"/>
                <a:cs typeface="Times New Roman"/>
              </a:rPr>
              <a:t>performance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easily.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7250">
              <a:lnSpc>
                <a:spcPct val="100000"/>
              </a:lnSpc>
              <a:spcBef>
                <a:spcPts val="95"/>
              </a:spcBef>
            </a:pPr>
            <a:r>
              <a:rPr sz="2950" dirty="0"/>
              <a:t>Key</a:t>
            </a:r>
            <a:r>
              <a:rPr sz="2950" spc="-70" dirty="0"/>
              <a:t> </a:t>
            </a:r>
            <a:r>
              <a:rPr sz="2950" spc="-10" dirty="0"/>
              <a:t>Features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70573" y="965297"/>
            <a:ext cx="1149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888888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373" y="962940"/>
            <a:ext cx="7228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storing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records.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573" y="1625697"/>
            <a:ext cx="1149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888888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373" y="1623340"/>
            <a:ext cx="7219950" cy="6223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260"/>
              </a:spcBef>
            </a:pPr>
            <a:r>
              <a:rPr sz="2000" dirty="0">
                <a:latin typeface="Times New Roman"/>
                <a:cs typeface="Times New Roman"/>
              </a:rPr>
              <a:t>Faculty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faculty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course assignments.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573" y="2578197"/>
            <a:ext cx="1149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888888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2373" y="2575840"/>
            <a:ext cx="67214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Course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management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organize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subjects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573" y="3238597"/>
            <a:ext cx="1149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888888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2373" y="3236240"/>
            <a:ext cx="6409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Attendance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tracking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monitoring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attendance.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573" y="3898997"/>
            <a:ext cx="1149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888888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5873" y="3896640"/>
            <a:ext cx="64865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Times New Roman"/>
                <a:cs typeface="Times New Roman"/>
              </a:rPr>
              <a:t>User-</a:t>
            </a:r>
            <a:r>
              <a:rPr sz="2000" dirty="0">
                <a:latin typeface="Times New Roman"/>
                <a:cs typeface="Times New Roman"/>
              </a:rPr>
              <a:t>friendly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administrators,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faculty,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students.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>
              <a:lnSpc>
                <a:spcPct val="100000"/>
              </a:lnSpc>
              <a:spcBef>
                <a:spcPts val="95"/>
              </a:spcBef>
            </a:pPr>
            <a:r>
              <a:rPr sz="2950" spc="-10" dirty="0"/>
              <a:t>Benefits/Advantage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214295" y="922125"/>
            <a:ext cx="7784465" cy="297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7365" indent="-494665">
              <a:lnSpc>
                <a:spcPct val="100000"/>
              </a:lnSpc>
              <a:spcBef>
                <a:spcPts val="100"/>
              </a:spcBef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r>
              <a:rPr sz="2000" dirty="0">
                <a:latin typeface="Times New Roman"/>
                <a:cs typeface="Times New Roman"/>
              </a:rPr>
              <a:t>Simplifies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academic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management.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000" dirty="0">
                <a:latin typeface="Times New Roman"/>
                <a:cs typeface="Times New Roman"/>
              </a:rPr>
              <a:t>Reduces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manual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paperwork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workload.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000" dirty="0">
                <a:latin typeface="Times New Roman"/>
                <a:cs typeface="Times New Roman"/>
              </a:rPr>
              <a:t>Improves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accuracy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organization.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quick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faculty</a:t>
            </a:r>
            <a:r>
              <a:rPr sz="2000" spc="-10" dirty="0">
                <a:latin typeface="Times New Roman"/>
                <a:cs typeface="Times New Roman"/>
              </a:rPr>
              <a:t> information.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000" dirty="0">
                <a:latin typeface="Times New Roman"/>
                <a:cs typeface="Times New Roman"/>
              </a:rPr>
              <a:t>Enhances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communication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administration,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faculty,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students.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074" rIns="0" bIns="0" rtlCol="0">
            <a:spAutoFit/>
          </a:bodyPr>
          <a:lstStyle/>
          <a:p>
            <a:pPr marL="45212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Technology</a:t>
            </a:r>
            <a:r>
              <a:rPr spc="-110" dirty="0"/>
              <a:t> </a:t>
            </a:r>
            <a:r>
              <a:rPr spc="-20" dirty="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852" y="1379323"/>
            <a:ext cx="6622415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2920" indent="-490220">
              <a:lnSpc>
                <a:spcPct val="100000"/>
              </a:lnSpc>
              <a:spcBef>
                <a:spcPts val="100"/>
              </a:spcBef>
              <a:buClr>
                <a:srgbClr val="888888"/>
              </a:buClr>
              <a:buFont typeface="Arial MT"/>
              <a:buChar char="•"/>
              <a:tabLst>
                <a:tab pos="50292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</a:t>
            </a:r>
            <a:r>
              <a:rPr sz="2000" spc="-10" dirty="0">
                <a:latin typeface="Times New Roman"/>
                <a:cs typeface="Times New Roman"/>
              </a:rPr>
              <a:t> technologies.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r>
              <a:rPr sz="2000" dirty="0">
                <a:latin typeface="Times New Roman"/>
                <a:cs typeface="Times New Roman"/>
              </a:rPr>
              <a:t>HTML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website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pages.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r>
              <a:rPr sz="2000" dirty="0">
                <a:latin typeface="Times New Roman"/>
                <a:cs typeface="Times New Roman"/>
              </a:rPr>
              <a:t>CSS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design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style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10" dirty="0">
                <a:latin typeface="Times New Roman"/>
                <a:cs typeface="Times New Roman"/>
              </a:rPr>
              <a:t> interface.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Clr>
                <a:srgbClr val="888888"/>
              </a:buClr>
              <a:buFont typeface="Arial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r>
              <a:rPr sz="2000" dirty="0">
                <a:latin typeface="Times New Roman"/>
                <a:cs typeface="Times New Roman"/>
              </a:rPr>
              <a:t>JavaScript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interactivity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dynamic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features.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888888"/>
              </a:buClr>
              <a:buFont typeface="Arial MT"/>
              <a:buChar char="•"/>
            </a:pPr>
            <a:endParaRPr sz="2000" dirty="0">
              <a:latin typeface="Times New Roman"/>
              <a:cs typeface="Times New Roman"/>
            </a:endParaRPr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r>
              <a:rPr sz="2000" dirty="0">
                <a:latin typeface="Times New Roman"/>
                <a:cs typeface="Times New Roman"/>
              </a:rPr>
              <a:t>Node.js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Express.js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backend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development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endParaRPr lang="en-US" sz="2000" b="1" dirty="0"/>
          </a:p>
          <a:p>
            <a:pPr marL="507365" indent="-4946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507365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074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System</a:t>
            </a:r>
            <a:r>
              <a:rPr spc="-18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796" y="1274669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40" dirty="0">
                <a:solidFill>
                  <a:srgbClr val="888888"/>
                </a:solidFill>
                <a:latin typeface="Trebuchet MS"/>
                <a:cs typeface="Trebuchet MS"/>
              </a:rPr>
              <a:t>▪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696" y="1267910"/>
            <a:ext cx="5420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10" dirty="0">
                <a:latin typeface="Times New Roman"/>
                <a:cs typeface="Times New Roman"/>
              </a:rPr>
              <a:t> three-</a:t>
            </a:r>
            <a:r>
              <a:rPr sz="2000" dirty="0">
                <a:latin typeface="Times New Roman"/>
                <a:cs typeface="Times New Roman"/>
              </a:rPr>
              <a:t>layer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architecture.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396" y="1944831"/>
            <a:ext cx="279399" cy="279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396" y="2908120"/>
            <a:ext cx="279399" cy="2794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96" y="4163510"/>
            <a:ext cx="279399" cy="279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32696" y="1887061"/>
            <a:ext cx="7651115" cy="31851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368300">
              <a:lnSpc>
                <a:spcPct val="100000"/>
              </a:lnSpc>
              <a:spcBef>
                <a:spcPts val="254"/>
              </a:spcBef>
            </a:pPr>
            <a:r>
              <a:rPr sz="2000" dirty="0">
                <a:latin typeface="Times New Roman"/>
                <a:cs typeface="Times New Roman"/>
              </a:rPr>
              <a:t>Presentation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000" dirty="0">
                <a:latin typeface="Times New Roman"/>
                <a:cs typeface="Times New Roman"/>
              </a:rPr>
              <a:t>User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built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HTML,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CSS,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JavaScript.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2000">
              <a:latin typeface="Times New Roman"/>
              <a:cs typeface="Times New Roman"/>
            </a:endParaRPr>
          </a:p>
          <a:p>
            <a:pPr marL="35369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Application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300"/>
              </a:lnSpc>
              <a:spcBef>
                <a:spcPts val="315"/>
              </a:spcBef>
            </a:pPr>
            <a:r>
              <a:rPr sz="2000" dirty="0">
                <a:latin typeface="Times New Roman"/>
                <a:cs typeface="Times New Roman"/>
              </a:rPr>
              <a:t>Handles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business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logic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managing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attendance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Node.js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Express.js.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2000">
              <a:latin typeface="Times New Roman"/>
              <a:cs typeface="Times New Roman"/>
            </a:endParaRPr>
          </a:p>
          <a:p>
            <a:pPr marL="368300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  <a:p>
            <a:pPr marL="12700" marR="1006475">
              <a:lnSpc>
                <a:spcPts val="2300"/>
              </a:lnSpc>
              <a:spcBef>
                <a:spcPts val="315"/>
              </a:spcBef>
            </a:pPr>
            <a:r>
              <a:rPr sz="2000" dirty="0">
                <a:latin typeface="Times New Roman"/>
                <a:cs typeface="Times New Roman"/>
              </a:rPr>
              <a:t>Stores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university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records,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course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details,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attendance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information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database.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38898"/>
            <a:ext cx="9144000" cy="57548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074" rIns="0" bIns="0" rtlCol="0">
            <a:spAutoFit/>
          </a:bodyPr>
          <a:lstStyle/>
          <a:p>
            <a:pPr marL="941705">
              <a:lnSpc>
                <a:spcPct val="100000"/>
              </a:lnSpc>
              <a:spcBef>
                <a:spcPts val="100"/>
              </a:spcBef>
            </a:pPr>
            <a:r>
              <a:rPr dirty="0"/>
              <a:t>Home</a:t>
            </a:r>
            <a:r>
              <a:rPr spc="-70" dirty="0"/>
              <a:t> </a:t>
            </a:r>
            <a:r>
              <a:rPr spc="-20" dirty="0"/>
              <a:t>page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47288"/>
            <a:ext cx="9144000" cy="57380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1480" rIns="0" bIns="0" rtlCol="0">
            <a:spAutoFit/>
          </a:bodyPr>
          <a:lstStyle/>
          <a:p>
            <a:pPr marL="1009650">
              <a:lnSpc>
                <a:spcPct val="100000"/>
              </a:lnSpc>
              <a:spcBef>
                <a:spcPts val="100"/>
              </a:spcBef>
            </a:pPr>
            <a:r>
              <a:rPr sz="2500" dirty="0"/>
              <a:t>Sign</a:t>
            </a:r>
            <a:r>
              <a:rPr sz="2500" spc="-10" dirty="0"/>
              <a:t> </a:t>
            </a:r>
            <a:r>
              <a:rPr sz="2500" dirty="0"/>
              <a:t>Up</a:t>
            </a:r>
            <a:r>
              <a:rPr sz="2500" spc="-10" dirty="0"/>
              <a:t> </a:t>
            </a:r>
            <a:r>
              <a:rPr sz="2500" spc="-20" dirty="0"/>
              <a:t>Page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105" dirty="0"/>
              <a:t> </a:t>
            </a:r>
            <a:r>
              <a:rPr spc="-10" dirty="0"/>
              <a:t>Improvemenst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353" y="1251463"/>
            <a:ext cx="5756910" cy="3307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indent="-431165">
              <a:lnSpc>
                <a:spcPct val="100000"/>
              </a:lnSpc>
              <a:spcBef>
                <a:spcPts val="100"/>
              </a:spcBef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200" dirty="0">
                <a:latin typeface="Times New Roman"/>
                <a:cs typeface="Times New Roman"/>
              </a:rPr>
              <a:t>Mobile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application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students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faculty.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888888"/>
              </a:buClr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200" dirty="0">
                <a:latin typeface="Times New Roman"/>
                <a:cs typeface="Times New Roman"/>
              </a:rPr>
              <a:t>Online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fee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payment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integration.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888888"/>
              </a:buClr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200" spc="-10" dirty="0">
                <a:latin typeface="Times New Roman"/>
                <a:cs typeface="Times New Roman"/>
              </a:rPr>
              <a:t>Real-</a:t>
            </a:r>
            <a:r>
              <a:rPr sz="2200" dirty="0">
                <a:latin typeface="Times New Roman"/>
                <a:cs typeface="Times New Roman"/>
              </a:rPr>
              <a:t>time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notification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888888"/>
              </a:buClr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200" dirty="0">
                <a:latin typeface="Times New Roman"/>
                <a:cs typeface="Times New Roman"/>
              </a:rPr>
              <a:t>Advanced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analytics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reporting.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  <a:buClr>
                <a:srgbClr val="888888"/>
              </a:buClr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443865" indent="-431165">
              <a:lnSpc>
                <a:spcPct val="100000"/>
              </a:lnSpc>
              <a:buClr>
                <a:srgbClr val="888888"/>
              </a:buClr>
              <a:buFont typeface="Arial MT"/>
              <a:buChar char="•"/>
              <a:tabLst>
                <a:tab pos="443865" algn="l"/>
              </a:tabLst>
            </a:pPr>
            <a:r>
              <a:rPr sz="2200" dirty="0">
                <a:latin typeface="Times New Roman"/>
                <a:cs typeface="Times New Roman"/>
              </a:rPr>
              <a:t>Integration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learning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management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systems.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3074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443865" marR="5080" indent="-431800">
              <a:lnSpc>
                <a:spcPts val="2600"/>
              </a:lnSpc>
              <a:spcBef>
                <a:spcPts val="219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University</a:t>
            </a:r>
            <a:r>
              <a:rPr spc="-50" dirty="0"/>
              <a:t> </a:t>
            </a:r>
            <a:r>
              <a:rPr dirty="0"/>
              <a:t>Management</a:t>
            </a:r>
            <a:r>
              <a:rPr spc="-55" dirty="0"/>
              <a:t> </a:t>
            </a:r>
            <a:r>
              <a:rPr dirty="0"/>
              <a:t>System</a:t>
            </a:r>
            <a:r>
              <a:rPr spc="-55" dirty="0"/>
              <a:t> </a:t>
            </a:r>
            <a:r>
              <a:rPr dirty="0"/>
              <a:t>provides</a:t>
            </a:r>
            <a:r>
              <a:rPr spc="-55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dirty="0"/>
              <a:t>efficient</a:t>
            </a:r>
            <a:r>
              <a:rPr spc="-55" dirty="0"/>
              <a:t> </a:t>
            </a:r>
            <a:r>
              <a:rPr dirty="0"/>
              <a:t>solution</a:t>
            </a:r>
            <a:r>
              <a:rPr spc="-50" dirty="0"/>
              <a:t> </a:t>
            </a:r>
            <a:r>
              <a:rPr spc="-25" dirty="0"/>
              <a:t>for </a:t>
            </a:r>
            <a:r>
              <a:rPr dirty="0"/>
              <a:t>managing</a:t>
            </a:r>
            <a:r>
              <a:rPr spc="-80" dirty="0"/>
              <a:t> </a:t>
            </a:r>
            <a:r>
              <a:rPr dirty="0"/>
              <a:t>university</a:t>
            </a:r>
            <a:r>
              <a:rPr spc="-80" dirty="0"/>
              <a:t> </a:t>
            </a:r>
            <a:r>
              <a:rPr dirty="0"/>
              <a:t>operations</a:t>
            </a:r>
            <a:r>
              <a:rPr spc="-75" dirty="0"/>
              <a:t> </a:t>
            </a:r>
            <a:r>
              <a:rPr spc="-10" dirty="0"/>
              <a:t>digitally.It</a:t>
            </a:r>
            <a:r>
              <a:rPr spc="-85" dirty="0"/>
              <a:t> </a:t>
            </a:r>
            <a:r>
              <a:rPr dirty="0"/>
              <a:t>simplifies</a:t>
            </a:r>
            <a:r>
              <a:rPr spc="-80" dirty="0"/>
              <a:t> </a:t>
            </a:r>
            <a:r>
              <a:rPr spc="-25" dirty="0"/>
              <a:t>the </a:t>
            </a:r>
            <a:r>
              <a:rPr dirty="0"/>
              <a:t>management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students,</a:t>
            </a:r>
            <a:r>
              <a:rPr spc="-50" dirty="0"/>
              <a:t> </a:t>
            </a:r>
            <a:r>
              <a:rPr spc="-10" dirty="0"/>
              <a:t>faculty,</a:t>
            </a:r>
            <a:r>
              <a:rPr spc="-50" dirty="0"/>
              <a:t> </a:t>
            </a:r>
            <a:r>
              <a:rPr dirty="0"/>
              <a:t>courses,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academic</a:t>
            </a:r>
            <a:r>
              <a:rPr spc="-55" dirty="0"/>
              <a:t> </a:t>
            </a:r>
            <a:r>
              <a:rPr spc="-10" dirty="0"/>
              <a:t>records.</a:t>
            </a:r>
          </a:p>
          <a:p>
            <a:pPr marL="443865" marR="36195" indent="-431800">
              <a:lnSpc>
                <a:spcPts val="2600"/>
              </a:lnSpc>
              <a:spcBef>
                <a:spcPts val="600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system</a:t>
            </a:r>
            <a:r>
              <a:rPr spc="-40" dirty="0"/>
              <a:t> </a:t>
            </a:r>
            <a:r>
              <a:rPr dirty="0"/>
              <a:t>reduces</a:t>
            </a:r>
            <a:r>
              <a:rPr spc="-35" dirty="0"/>
              <a:t> </a:t>
            </a:r>
            <a:r>
              <a:rPr dirty="0"/>
              <a:t>manual</a:t>
            </a:r>
            <a:r>
              <a:rPr spc="-40" dirty="0"/>
              <a:t> </a:t>
            </a:r>
            <a:r>
              <a:rPr dirty="0"/>
              <a:t>workload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improves</a:t>
            </a:r>
            <a:r>
              <a:rPr spc="-35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organization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accessibility.Overall,</a:t>
            </a:r>
            <a:r>
              <a:rPr spc="-35" dirty="0"/>
              <a:t> </a:t>
            </a:r>
            <a:r>
              <a:rPr dirty="0"/>
              <a:t>it</a:t>
            </a:r>
            <a:r>
              <a:rPr spc="-40" dirty="0"/>
              <a:t> </a:t>
            </a:r>
            <a:r>
              <a:rPr dirty="0"/>
              <a:t>enhances</a:t>
            </a:r>
            <a:r>
              <a:rPr spc="-3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efficiency</a:t>
            </a:r>
            <a:r>
              <a:rPr spc="-35" dirty="0"/>
              <a:t> </a:t>
            </a:r>
            <a:r>
              <a:rPr spc="-25" dirty="0"/>
              <a:t>and </a:t>
            </a:r>
            <a:r>
              <a:rPr dirty="0"/>
              <a:t>transparency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university</a:t>
            </a:r>
            <a:r>
              <a:rPr spc="-50" dirty="0"/>
              <a:t> </a:t>
            </a:r>
            <a:r>
              <a:rPr spc="-10" dirty="0"/>
              <a:t>administration.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572</Words>
  <Application>Microsoft Office PowerPoint</Application>
  <PresentationFormat>On-screen Show (4:3)</PresentationFormat>
  <Paragraphs>90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MT</vt:lpstr>
      <vt:lpstr>Calibri</vt:lpstr>
      <vt:lpstr>Times New Roman</vt:lpstr>
      <vt:lpstr>Trebuchet MS</vt:lpstr>
      <vt:lpstr>Office Theme</vt:lpstr>
      <vt:lpstr>Back End Engineering</vt:lpstr>
      <vt:lpstr>Introduction</vt:lpstr>
      <vt:lpstr>Problem Statement</vt:lpstr>
      <vt:lpstr>Project Objective</vt:lpstr>
      <vt:lpstr>Key Features</vt:lpstr>
      <vt:lpstr>Benefits/Advantage</vt:lpstr>
      <vt:lpstr>Technology Used</vt:lpstr>
      <vt:lpstr>System Architecture</vt:lpstr>
      <vt:lpstr>Home page</vt:lpstr>
      <vt:lpstr>Sign Up Page</vt:lpstr>
      <vt:lpstr>Future Improvemenst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 PPT Project</dc:title>
  <cp:lastModifiedBy>Rupali Mangla</cp:lastModifiedBy>
  <cp:revision>2</cp:revision>
  <dcterms:created xsi:type="dcterms:W3CDTF">2026-04-30T04:07:24Z</dcterms:created>
  <dcterms:modified xsi:type="dcterms:W3CDTF">2026-04-30T05:17:07Z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or">
    <vt:lpwstr>Keynote</vt:lpwstr>
  </property>
  <property fmtid="{D5CDD505-2E9C-101B-9397-08002B2CF9AE}" pid="4" name="LastSaved">
    <vt:filetime>2026-04-30T00:00:00Z</vt:filetime>
  </property>
  <property fmtid="{D5CDD505-2E9C-101B-9397-08002B2CF9AE}" pid="5" name="Producer">
    <vt:lpwstr>macOS Version 26.1 (Build 25B78) Quartz PDFContext</vt:lpwstr>
  </property>
</Properties>
</file>